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26" y="1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4826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8321040" y="36576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FE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 CENTRE-VAL DE LOIRE — SERVICES DÉPARTEMENTAUX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2606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GeoSD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611880"/>
            <a:ext cx="7589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D6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carnet de terrain numérique des services départementaux — sans compte, sans serveur, sans donnée hébergée à distance.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600" i="1" dirty="0">
              <a:solidFill>
                <a:srgbClr val="D6ECE2"/>
              </a:solidFill>
              <a:latin typeface="Calibri" pitchFamily="34" charset="0"/>
              <a:cs typeface="Calibri" pitchFamily="34" charset="-120"/>
            </a:endParaRPr>
          </a:p>
          <a:p>
            <a:pPr algn="ctr">
              <a:lnSpc>
                <a:spcPct val="125000"/>
              </a:lnSpc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https://jpgofbdev.github.io/geosd/index.html</a:t>
            </a:r>
          </a:p>
        </p:txBody>
      </p:sp>
      <p:sp>
        <p:nvSpPr>
          <p:cNvPr id="6" name="Text 3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E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Présentation générale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" cy="237744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443484"/>
            <a:ext cx="118872" cy="1188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347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5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GeoSD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69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CONSTAT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un outil dédié à la saisie de terrain 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BFBF8"/>
          </a:solidFill>
          <a:ln w="9525">
            <a:solidFill>
              <a:srgbClr val="C7CA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868680" y="2286000"/>
            <a:ext cx="566928" cy="566928"/>
          </a:xfrm>
          <a:prstGeom prst="ellipse">
            <a:avLst/>
          </a:prstGeom>
          <a:solidFill>
            <a:srgbClr val="F4E6E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81" y="243340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2331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306324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: puissant, mais trop complexe à prendre en main pour de la simple saisie terrain.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QField : solution mobile existante, mais déploiement jugé trop lourd et contraignant.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Carnets papier non centralisés : ressaisie chronophage, pas de vue d'ensemble partagée.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263640" y="196596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BFBF8"/>
          </a:solidFill>
          <a:ln w="9525">
            <a:solidFill>
              <a:srgbClr val="C7CA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6583680" y="2286000"/>
            <a:ext cx="566928" cy="566928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81" y="243340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315200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réponse GeoSD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583680" y="306324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sans formation lourde : cliquer sur la carte, choisir une thématique, remplir un formulaire.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 err="1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</a:t>
            </a:r>
            <a:r>
              <a:rPr lang="en-US" sz="13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un simple jeu de pages web statiques.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verrouillage : format GeoJSON standard, réversible vers QGIS à tout moment.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F5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" cy="237744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443484"/>
            <a:ext cx="118872" cy="1188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347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5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GeoSD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69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 D'ENSEMBLE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versions, une seule base de données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3538728" cy="3931920"/>
          </a:xfrm>
          <a:prstGeom prst="roundRect">
            <a:avLst>
              <a:gd name="adj" fmla="val 2067"/>
            </a:avLst>
          </a:prstGeom>
          <a:solidFill>
            <a:srgbClr val="FBFBF8"/>
          </a:solidFill>
          <a:ln w="9525">
            <a:solidFill>
              <a:srgbClr val="C7CA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841248" y="2304288"/>
            <a:ext cx="566928" cy="566928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49" y="2451689"/>
            <a:ext cx="272125" cy="2721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670048" y="2377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69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TERRAIN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841248" y="306324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Saisie terrain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841248" y="3520440"/>
            <a:ext cx="2953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 nouveaux points en mobilité. Sauvegarde automatique sur l'appareil, export groupé en fin de tournée.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41248" y="5321808"/>
            <a:ext cx="2953512" cy="0"/>
          </a:xfrm>
          <a:prstGeom prst="line">
            <a:avLst/>
          </a:prstGeom>
          <a:noFill/>
          <a:ln w="9525">
            <a:solidFill>
              <a:srgbClr val="C7CABB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 txBox="1"/>
          <p:nvPr/>
        </p:nvSpPr>
        <p:spPr>
          <a:xfrm>
            <a:off x="841248" y="54406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Tout navigateur récent — mobile ou tablette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325112" y="2011680"/>
            <a:ext cx="3538728" cy="3931920"/>
          </a:xfrm>
          <a:prstGeom prst="roundRect">
            <a:avLst>
              <a:gd name="adj" fmla="val 2067"/>
            </a:avLst>
          </a:prstGeom>
          <a:solidFill>
            <a:srgbClr val="FBFBF8"/>
          </a:solidFill>
          <a:ln w="9525">
            <a:solidFill>
              <a:srgbClr val="C7CA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4617720" y="2304288"/>
            <a:ext cx="566928" cy="566928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121" y="2451689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46520" y="2377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69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TERRAIN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4617720" y="306324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Consultation terrain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4617720" y="3520440"/>
            <a:ext cx="2953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 des points déjà connus, pour situer une intervention sans risque de modification accidentelle.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617720" y="5321808"/>
            <a:ext cx="2953512" cy="0"/>
          </a:xfrm>
          <a:prstGeom prst="line">
            <a:avLst/>
          </a:prstGeom>
          <a:noFill/>
          <a:ln w="9525">
            <a:solidFill>
              <a:srgbClr val="C7CABB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7"/>
          <p:cNvSpPr txBox="1"/>
          <p:nvPr/>
        </p:nvSpPr>
        <p:spPr>
          <a:xfrm>
            <a:off x="4617720" y="54406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Tout navigateur récent — mobile ou tablette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8101584" y="2011680"/>
            <a:ext cx="3538728" cy="3931920"/>
          </a:xfrm>
          <a:prstGeom prst="roundRect">
            <a:avLst>
              <a:gd name="adj" fmla="val 2067"/>
            </a:avLst>
          </a:prstGeom>
          <a:solidFill>
            <a:srgbClr val="FBFBF8"/>
          </a:solidFill>
          <a:ln w="9525">
            <a:solidFill>
              <a:srgbClr val="C7CA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8394192" y="2304288"/>
            <a:ext cx="566928" cy="566928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1593" y="2451689"/>
            <a:ext cx="272125" cy="27212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222992" y="2377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69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BUREAU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8394192" y="306324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8394192" y="3520440"/>
            <a:ext cx="2953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des envois terrain, fusion sans doublon, tableau de données et statistiques.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8394192" y="5321808"/>
            <a:ext cx="2953512" cy="0"/>
          </a:xfrm>
          <a:prstGeom prst="line">
            <a:avLst/>
          </a:prstGeom>
          <a:noFill/>
          <a:ln w="9525">
            <a:solidFill>
              <a:srgbClr val="C7CABB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4"/>
          <p:cNvSpPr txBox="1"/>
          <p:nvPr/>
        </p:nvSpPr>
        <p:spPr>
          <a:xfrm>
            <a:off x="8394192" y="54406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Poste desktop — Chrome, Edge ou Opera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versions partagent la même configuration (thématiques, territoires, style) — un seul fichier modifié met à jour les trois à la fois.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F5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" cy="237744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443484"/>
            <a:ext cx="118872" cy="1188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347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5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GeoSD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69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 QUE FAIT L'OUTIL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clés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084832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253288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thématiques prédéfinies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9008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Chasse, pêche, eau, phytosanitaires, VTM, FSC, habitat/espèces protégées, cueillette — configurables via un simple CSV.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206240" y="1965960"/>
            <a:ext cx="457200" cy="457200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208483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206240" y="253288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Fonctionnement hors connexion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206240" y="299008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compris « à froid » : carte, application et bibliothèques mises en cache sur l'appareil.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863840" y="1965960"/>
            <a:ext cx="457200" cy="457200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712" y="208483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863840" y="253288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Fonds de carte OSM &amp; IGN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7863840" y="299008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OpenStreetMap, Plan IGN et Orthophoto IGN, interchangeables en un clic.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4096512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8640" y="454456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Filtres avancés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548640" y="500176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libre, thématique, période, fiabilité, et filtre calendaire jour/mois/occurrence.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4206240" y="3977640"/>
            <a:ext cx="457200" cy="457200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5112" y="4096512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206240" y="454456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&amp; statistiques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4206240" y="500176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tableau exportable en CSV, histogramme mensuel par thématique.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7863840" y="3977640"/>
            <a:ext cx="457200" cy="457200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2712" y="4096512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863840" y="454456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Repère de fraîcheur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7863840" y="500176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Horodatage automatique des données, alerte visuelle au-delà de 30 jours.</a:t>
            </a:r>
            <a:endParaRPr lang="en-US" sz="1150" dirty="0"/>
          </a:p>
        </p:txBody>
      </p:sp>
      <p:sp>
        <p:nvSpPr>
          <p:cNvPr id="31" name="Text 22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F5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4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FE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PORTÉE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instance, disponible pour toute la métropole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6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départements métropolitains couverts par le sélecteur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51960" y="278892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8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40233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hébergée une seule fois, pour tous les services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78892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8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40233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applicatif à exploiter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0A5943"/>
          </a:solidFill>
          <a:ln w="9525">
            <a:solidFill>
              <a:srgbClr val="1C7B6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86868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E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actuel piloté par la DR du Centre-Val de Loire et SD45— l'application est réutilisable sans aucune modification par tout autre service départemental en métropole.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F5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" cy="237744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443484"/>
            <a:ext cx="118872" cy="1188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347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5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GeoSD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69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CHOIX D'ARCHITECTURE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51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données restent toujours en local ou sur le réseau interne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base ne quitte le périmètre du service, à aucune étape du parcours de la donnée.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FBFBF8"/>
          </a:solidFill>
          <a:ln w="9525">
            <a:solidFill>
              <a:srgbClr val="C7CA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1536192" y="2514600"/>
            <a:ext cx="512064" cy="512064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329" y="2647737"/>
            <a:ext cx="245791" cy="24579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8368" y="31089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Tablette terrain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676656" y="3447288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+ sauvegarde locale (localStorage), sur l'appareil de l'agent</a:t>
            </a:r>
            <a:endParaRPr lang="en-US" sz="970" dirty="0"/>
          </a:p>
        </p:txBody>
      </p:sp>
      <p:sp>
        <p:nvSpPr>
          <p:cNvPr id="13" name="Shape 9"/>
          <p:cNvSpPr/>
          <p:nvPr/>
        </p:nvSpPr>
        <p:spPr>
          <a:xfrm>
            <a:off x="3054096" y="3067812"/>
            <a:ext cx="164592" cy="148133"/>
          </a:xfrm>
          <a:prstGeom prst="chevron">
            <a:avLst/>
          </a:prstGeom>
          <a:solidFill>
            <a:srgbClr val="C7CAB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3236976" y="2331720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FBFBF8"/>
          </a:solidFill>
          <a:ln w="9525">
            <a:solidFill>
              <a:srgbClr val="C7CA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4224528" y="2514600"/>
            <a:ext cx="512064" cy="512064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665" y="264773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346704" y="31089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manuel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3364992" y="3447288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Geste volontaire de l'agent en fin de tournée — jamais automatique</a:t>
            </a:r>
            <a:endParaRPr lang="en-US" sz="970" dirty="0"/>
          </a:p>
        </p:txBody>
      </p:sp>
      <p:sp>
        <p:nvSpPr>
          <p:cNvPr id="19" name="Shape 14"/>
          <p:cNvSpPr/>
          <p:nvPr/>
        </p:nvSpPr>
        <p:spPr>
          <a:xfrm>
            <a:off x="5742432" y="3067812"/>
            <a:ext cx="164592" cy="148133"/>
          </a:xfrm>
          <a:prstGeom prst="chevron">
            <a:avLst/>
          </a:prstGeom>
          <a:solidFill>
            <a:srgbClr val="C7CAB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5925312" y="2331720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FBFBF8"/>
          </a:solidFill>
          <a:ln w="9525">
            <a:solidFill>
              <a:srgbClr val="C7CA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6912864" y="2514600"/>
            <a:ext cx="512064" cy="512064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6001" y="2647737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035040" y="31089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Poste administrateur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6053328" y="3447288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Écriture directe sur disque, via une fonctionnalité native du navigateur</a:t>
            </a:r>
            <a:endParaRPr lang="en-US" sz="970" dirty="0"/>
          </a:p>
        </p:txBody>
      </p:sp>
      <p:sp>
        <p:nvSpPr>
          <p:cNvPr id="25" name="Shape 19"/>
          <p:cNvSpPr/>
          <p:nvPr/>
        </p:nvSpPr>
        <p:spPr>
          <a:xfrm>
            <a:off x="8430768" y="3067812"/>
            <a:ext cx="164592" cy="148133"/>
          </a:xfrm>
          <a:prstGeom prst="chevron">
            <a:avLst/>
          </a:prstGeom>
          <a:solidFill>
            <a:srgbClr val="C7CAB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0"/>
          <p:cNvSpPr/>
          <p:nvPr/>
        </p:nvSpPr>
        <p:spPr>
          <a:xfrm>
            <a:off x="8613648" y="2331720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FBFBF8"/>
          </a:solidFill>
          <a:ln w="9525">
            <a:solidFill>
              <a:srgbClr val="C7CA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1"/>
          <p:cNvSpPr/>
          <p:nvPr/>
        </p:nvSpPr>
        <p:spPr>
          <a:xfrm>
            <a:off x="9601200" y="2514600"/>
            <a:ext cx="512064" cy="512064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4337" y="2647737"/>
            <a:ext cx="245791" cy="245791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723376" y="31089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Dossier réseau interne</a:t>
            </a:r>
            <a:endParaRPr lang="en-US" sz="1250" dirty="0"/>
          </a:p>
        </p:txBody>
      </p:sp>
      <p:sp>
        <p:nvSpPr>
          <p:cNvPr id="30" name="Text 23"/>
          <p:cNvSpPr txBox="1"/>
          <p:nvPr/>
        </p:nvSpPr>
        <p:spPr>
          <a:xfrm>
            <a:off x="8741664" y="3447288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central au format GeoJSON, sur l'infrastructure du service</a:t>
            </a:r>
            <a:endParaRPr lang="en-US" sz="970" dirty="0"/>
          </a:p>
        </p:txBody>
      </p:sp>
      <p:sp>
        <p:nvSpPr>
          <p:cNvPr id="31" name="Shape 24"/>
          <p:cNvSpPr/>
          <p:nvPr/>
        </p:nvSpPr>
        <p:spPr>
          <a:xfrm>
            <a:off x="548640" y="4279392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4E6E1"/>
          </a:solidFill>
          <a:ln w="9525">
            <a:solidFill>
              <a:srgbClr val="E0C3B8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25"/>
          <p:cNvSpPr/>
          <p:nvPr/>
        </p:nvSpPr>
        <p:spPr>
          <a:xfrm>
            <a:off x="777240" y="4379976"/>
            <a:ext cx="457200" cy="457200"/>
          </a:xfrm>
          <a:prstGeom prst="ellipse">
            <a:avLst/>
          </a:prstGeom>
          <a:solidFill>
            <a:srgbClr val="F4E6E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112" y="4498848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417320" y="4279392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cloud, aucun serveur applicatif tiers, à aucune étape de ce parcours.</a:t>
            </a:r>
            <a:endParaRPr lang="en-US" sz="1350" dirty="0"/>
          </a:p>
        </p:txBody>
      </p:sp>
      <p:sp>
        <p:nvSpPr>
          <p:cNvPr id="35" name="Shape 27"/>
          <p:cNvSpPr/>
          <p:nvPr/>
        </p:nvSpPr>
        <p:spPr>
          <a:xfrm>
            <a:off x="548640" y="5175504"/>
            <a:ext cx="402336" cy="402336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247" y="5280111"/>
            <a:ext cx="193121" cy="193121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078992" y="514807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Souveraineté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1078992" y="5413248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dépendance à un hébergeur tiers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334256" y="5175504"/>
            <a:ext cx="402336" cy="402336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8863" y="5280111"/>
            <a:ext cx="193121" cy="193121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4864608" y="514807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compte à sécuriser</a:t>
            </a:r>
            <a:endParaRPr lang="en-US" sz="1250" dirty="0"/>
          </a:p>
        </p:txBody>
      </p:sp>
      <p:sp>
        <p:nvSpPr>
          <p:cNvPr id="42" name="Text 32"/>
          <p:cNvSpPr txBox="1"/>
          <p:nvPr/>
        </p:nvSpPr>
        <p:spPr>
          <a:xfrm>
            <a:off x="4864608" y="5413248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authentification distante à protéger</a:t>
            </a: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8119872" y="5175504"/>
            <a:ext cx="402336" cy="402336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4479" y="5280111"/>
            <a:ext cx="193121" cy="193121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8650224" y="514807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Réversible</a:t>
            </a:r>
            <a:endParaRPr lang="en-US" sz="1250" dirty="0"/>
          </a:p>
        </p:txBody>
      </p:sp>
      <p:sp>
        <p:nvSpPr>
          <p:cNvPr id="46" name="Text 35"/>
          <p:cNvSpPr txBox="1"/>
          <p:nvPr/>
        </p:nvSpPr>
        <p:spPr>
          <a:xfrm>
            <a:off x="8650224" y="5413248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GeoJSON standard, ouvrable dans QGIS à tout moment</a:t>
            </a:r>
            <a:endParaRPr lang="en-US" sz="1050" dirty="0"/>
          </a:p>
        </p:txBody>
      </p:sp>
      <p:sp>
        <p:nvSpPr>
          <p:cNvPr id="47" name="Text 36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F5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" cy="237744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443484"/>
            <a:ext cx="118872" cy="1188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347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5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GeoSD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69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SOBRIÉTÉ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frugalité assumée, de la maintenance au déploiement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548640" cy="548640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220004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1214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83464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serveur applicatif ni base de données à exploiter.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abonnement, aucune dépendance à un service cloud payant.</a:t>
            </a:r>
            <a:endParaRPr lang="en-US" sz="1350" dirty="0"/>
          </a:p>
          <a:p>
            <a:pPr marL="342900" indent="-342900">
              <a:lnSpc>
                <a:spcPct val="128000"/>
              </a:lnSpc>
              <a:buSzPct val="100000"/>
              <a:buChar char="●"/>
            </a:pPr>
            <a:r>
              <a:rPr lang="en-US" sz="13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du parc en une seule opération, répercutée sur les 3 versions à la fois.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263640" y="2057400"/>
            <a:ext cx="548640" cy="548640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286" y="220004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949440" y="21214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6263640" y="283464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en simple site statique, sans installation lourde.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Raccourci d'écran d'accueil en deux gestes, sans magasin d'applications ni compte.</a:t>
            </a:r>
            <a:endParaRPr lang="en-US" sz="1350" dirty="0"/>
          </a:p>
          <a:p>
            <a:pPr marL="342900" indent="-342900">
              <a:lnSpc>
                <a:spcPct val="128000"/>
              </a:lnSpc>
              <a:buSzPct val="100000"/>
              <a:buChar char="●"/>
            </a:pPr>
            <a:r>
              <a:rPr lang="en-US" sz="135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thématique ou territoire : un seul fichier à modifier, répercuté partout.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AF1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1"/>
          <p:cNvSpPr txBox="1"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4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tout piloté depuis un seul fichier CSV pour le modèle des champs — aucune ligne de code à toucher pour faire évoluer les formulaires.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F5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" cy="237744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443484"/>
            <a:ext cx="118872" cy="1188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347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5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GeoSD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69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 DE VIGILANCE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limites actuelles, et ce qui pourrait les lever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BFBF8"/>
          </a:solidFill>
          <a:ln w="9525">
            <a:solidFill>
              <a:srgbClr val="C7CA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868680" y="2286000"/>
            <a:ext cx="566928" cy="566928"/>
          </a:xfrm>
          <a:prstGeom prst="ellipse">
            <a:avLst/>
          </a:prstGeom>
          <a:solidFill>
            <a:srgbClr val="F4E6E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81" y="243340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2331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actuelles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306324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fusion </a:t>
            </a:r>
            <a:r>
              <a:rPr lang="en-US" sz="1300" dirty="0" err="1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</a:t>
            </a:r>
            <a:r>
              <a:rPr lang="en-US" sz="130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operation </a:t>
            </a:r>
            <a:r>
              <a:rPr lang="en-US" sz="1300" dirty="0" err="1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</a:t>
            </a:r>
            <a:r>
              <a:rPr lang="en-US" sz="130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l’administrateur</a:t>
            </a:r>
            <a:endParaRPr lang="en-US" sz="1300" dirty="0">
              <a:solidFill>
                <a:srgbClr val="3F574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d'hébergement interne OFB à ce jour pour ce type d'outil léger.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196596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BFBF8"/>
          </a:solidFill>
          <a:ln w="9525">
            <a:solidFill>
              <a:srgbClr val="C7CA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6583680" y="2286000"/>
            <a:ext cx="566928" cy="566928"/>
          </a:xfrm>
          <a:prstGeom prst="ellipse">
            <a:avLst/>
          </a:prstGeom>
          <a:solidFill>
            <a:srgbClr val="00694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81" y="243340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315200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Pistes d'évolution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6583680" y="306324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installable pour les 2 versions terrain (mise en cache hors-ligne complète).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l'évolution du support Android pour l'écriture directe de </a:t>
            </a:r>
            <a:r>
              <a:rPr lang="en-US" sz="1300" dirty="0" err="1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r>
              <a:rPr lang="en-US" sz="130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sans passer par </a:t>
            </a:r>
            <a:r>
              <a:rPr lang="en-US" sz="1300" dirty="0" err="1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l’envoi</a:t>
            </a:r>
            <a:r>
              <a:rPr lang="en-US" sz="130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mail.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3F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distant authentifié, si un hébergement interne devient disponible.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F5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1097280" y="237744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31920" y="2514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questions ?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397764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6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GeoSD — sans compte, sans serveur, sans donnée hébergée à distance.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397764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E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Jean-Philippe Goyen — DR Centre-Val de Loire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833</Words>
  <Application>Microsoft Office PowerPoint</Application>
  <PresentationFormat>Grand écran</PresentationFormat>
  <Paragraphs>118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GOYEN Jean-Philippe</cp:lastModifiedBy>
  <cp:revision>3</cp:revision>
  <dcterms:created xsi:type="dcterms:W3CDTF">2026-08-27T14:52:22Z</dcterms:created>
  <dcterms:modified xsi:type="dcterms:W3CDTF">2026-08-27T15:01:27Z</dcterms:modified>
</cp:coreProperties>
</file>